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E9B6D9-F949-4B1D-A75D-97387C1243C4}">
  <a:tblStyle styleId="{3FE9B6D9-F949-4B1D-A75D-97387C1243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1536192" y="4507992"/>
            <a:ext cx="9125712" cy="70408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914400" y="1716723"/>
            <a:ext cx="10363200" cy="2387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gear, metalware&#10;&#10;Description automatically generated" id="23" name="Google Shape;2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1152" y="22561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icon&#10;&#10;Description automatically generated" id="24" name="Google Shape;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25615"/>
            <a:ext cx="1280160" cy="100349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0" y="185416"/>
            <a:ext cx="12192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NATIONAL UNIVERSITY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of Computer &amp; Emerging Sciences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Chiniot-Faisalabad Campus</a:t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0" y="6153912"/>
            <a:ext cx="12192000" cy="7040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Electrical Engineering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6466080"/>
            <a:ext cx="12192000" cy="365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  <a:defRPr b="1">
                <a:solidFill>
                  <a:srgbClr val="3A67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0" y="365127"/>
            <a:ext cx="838200" cy="1325562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1353800" y="365126"/>
            <a:ext cx="838200" cy="1325562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6466080"/>
            <a:ext cx="12192000" cy="365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  <a:defRPr b="1">
                <a:solidFill>
                  <a:srgbClr val="3A67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  <a:defRPr>
                <a:solidFill>
                  <a:srgbClr val="3A67B8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  <a:defRPr>
                <a:solidFill>
                  <a:srgbClr val="3A67B8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000"/>
              <a:buChar char="•"/>
              <a:defRPr>
                <a:solidFill>
                  <a:srgbClr val="3A67B8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1800"/>
              <a:buChar char="•"/>
              <a:defRPr>
                <a:solidFill>
                  <a:srgbClr val="3A67B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0" y="365126"/>
            <a:ext cx="838200" cy="1325563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53800" y="365125"/>
            <a:ext cx="838200" cy="1325563"/>
          </a:xfrm>
          <a:prstGeom prst="rect">
            <a:avLst/>
          </a:prstGeom>
          <a:solidFill>
            <a:srgbClr val="3A67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Applied Machine Learning</a:t>
            </a:r>
            <a:endParaRPr/>
          </a:p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Lecture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 Introduction to Course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 Prerequisites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Text and Reference Books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Grading Policy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What is Machine Learning?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Why use Machine Learning?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Types of Machine Learning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Pre-requisites</a:t>
            </a:r>
            <a:endParaRPr/>
          </a:p>
        </p:txBody>
      </p:sp>
      <p:sp>
        <p:nvSpPr>
          <p:cNvPr id="116" name="Google Shape;116;p1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Coding behavior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Ability to understand the code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Data structures and complexity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Probability theory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Derivatives, Integration, and matrix manipulation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Brief knowledge of edge devices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Recommended Books</a:t>
            </a:r>
            <a:endParaRPr/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Font typeface="Calibri"/>
              <a:buAutoNum type="arabicPeriod"/>
            </a:pPr>
            <a:r>
              <a:rPr lang="en-US"/>
              <a:t>Hands-On Machine Learning with Scikit-Learn, Keras, and TensorFlow by Aurélien Géron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Font typeface="Calibri"/>
              <a:buAutoNum type="arabicPeriod"/>
            </a:pPr>
            <a:r>
              <a:rPr lang="en-US"/>
              <a:t>Understanding Machine Learning - From Theory to Algorithms by Shai Shalev-Shwartz and Shai Ben-David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Font typeface="Calibri"/>
              <a:buAutoNum type="arabicPeriod"/>
            </a:pPr>
            <a:r>
              <a:rPr lang="en-US"/>
              <a:t>Applied Machine Learning by David Forsyth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Font typeface="Calibri"/>
              <a:buAutoNum type="arabicPeriod"/>
            </a:pPr>
            <a:r>
              <a:rPr lang="en-US"/>
              <a:t>Machine Learning by Tom M. Mitchell</a:t>
            </a:r>
            <a:endParaRPr/>
          </a:p>
        </p:txBody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Course Objective</a:t>
            </a:r>
            <a:endParaRPr/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The objective of this course is to develop students’ understanding and interest in Machine Learning by introducing fundamental ML methods, algorithms, and their mathematical foundations. The course provides hands-on experience in implementing and evaluating ML models using real-world data, while developing students’ ability to critically analyze ML techniques, and designing practical ML solutions for real-world applications, including deployment on edge devices.</a:t>
            </a:r>
            <a:endParaRPr/>
          </a:p>
        </p:txBody>
      </p:sp>
      <p:sp>
        <p:nvSpPr>
          <p:cNvPr id="135" name="Google Shape;135;p1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36" name="Google Shape;136;p1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37" name="Google Shape;137;p1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Course Learning Outcomes</a:t>
            </a:r>
            <a:endParaRPr/>
          </a:p>
        </p:txBody>
      </p:sp>
      <p:graphicFrame>
        <p:nvGraphicFramePr>
          <p:cNvPr id="143" name="Google Shape;143;p18"/>
          <p:cNvGraphicFramePr/>
          <p:nvPr/>
        </p:nvGraphicFramePr>
        <p:xfrm>
          <a:off x="838200" y="205047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{3FE9B6D9-F949-4B1D-A75D-97387C1243C4}</a:tableStyleId>
              </a:tblPr>
              <a:tblGrid>
                <a:gridCol w="841500"/>
                <a:gridCol w="7399150"/>
                <a:gridCol w="1144800"/>
                <a:gridCol w="1130150"/>
              </a:tblGrid>
              <a:tr h="678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Course Learning Outcome (CLO) Statements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Taxonomy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PLO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84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Apply fundamental Machine Learning concepts and mathematical formulations to formulate and solve learning problems.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678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Apply appropriate Machine Learning algorithms to solve classification, regression, clustering, and pattern-recognition problems.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84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Apply model evaluation, feature engineering, and dimensionality reduction techniques to assess and improve ML models using real-world datasets.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84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 solutions using machine learning models with supervised or unsupervised techniques to address engineering challenges.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  <p:sp>
        <p:nvSpPr>
          <p:cNvPr id="144" name="Google Shape;144;p1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45" name="Google Shape;145;p1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Weekly Course Breakdown</a:t>
            </a:r>
            <a:endParaRPr/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Refer the course outline document</a:t>
            </a:r>
            <a:endParaRPr/>
          </a:p>
        </p:txBody>
      </p:sp>
      <p:sp>
        <p:nvSpPr>
          <p:cNvPr id="153" name="Google Shape;153;p1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54" name="Google Shape;154;p1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55" name="Google Shape;155;p1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Assessment Tools and Grading Criteria</a:t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Assignments (3-5)	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Quizzes (4 – 8)		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CEP (1)			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Mid Term I			15%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Mid Term II		15%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Final Exam			40%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63" name="Google Shape;163;p2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Grading Scheme</a:t>
            </a:r>
            <a:endParaRPr/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Absolute Grading scheme </a:t>
            </a:r>
            <a:r>
              <a:rPr lang="en-US"/>
              <a:t>will be applied. Grades will be assigned according to the following table.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72" name="Google Shape;172;p2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73" name="Google Shape;173;p2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4" name="Google Shape;174;p21"/>
          <p:cNvGraphicFramePr/>
          <p:nvPr/>
        </p:nvGraphicFramePr>
        <p:xfrm>
          <a:off x="2436091" y="305781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{3FE9B6D9-F949-4B1D-A75D-97387C1243C4}</a:tableStyleId>
              </a:tblPr>
              <a:tblGrid>
                <a:gridCol w="2086000"/>
                <a:gridCol w="862000"/>
                <a:gridCol w="862000"/>
                <a:gridCol w="2086000"/>
                <a:gridCol w="862000"/>
                <a:gridCol w="862000"/>
              </a:tblGrid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Percentage Marks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Percentage Marks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than 90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A+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 – 70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C+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 – 90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 – 66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 – 86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A-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3.67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 – 62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C-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1.67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 – 82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B+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3.33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 – 58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D+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1.33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 – 78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3.00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– 54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1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 – 74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B-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2.67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than 50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Now Let’s Start the Course</a:t>
            </a:r>
            <a:endParaRPr/>
          </a:p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☺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Why is this course important for Engineers?</a:t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838200" y="1838036"/>
            <a:ext cx="10515600" cy="454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100"/>
              <a:buChar char="•"/>
            </a:pPr>
            <a:r>
              <a:rPr b="1" lang="en-US" sz="3100">
                <a:solidFill>
                  <a:srgbClr val="FF0000"/>
                </a:solidFill>
              </a:rPr>
              <a:t>To complete the degree ☺</a:t>
            </a:r>
            <a:endParaRPr b="1" sz="310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Applied Machine Learning allows electrical engineers to move from model-based and rule-based systems toward intelligent, adaptive, and data-driven engineering solutions.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Data-Driven Engineering and Optimization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Automation and Intelligent Control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Fault Detection and Predictive Maintenance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Smart Grid and Energy Management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Renewable Energy Integration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7" name="Google Shape;187;p2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88" name="Google Shape;188;p2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89" name="Google Shape;189;p2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What is Machine Learning?</a:t>
            </a:r>
            <a:endParaRPr/>
          </a:p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Machine Learning is the science (and art) of programming computers so they can learn from data.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Slightly more general definition: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Machine Learning is the field of study that gives computers the ability to learn without being explicitly programmed. (</a:t>
            </a:r>
            <a:r>
              <a:rPr i="1" lang="en-US"/>
              <a:t>Arthur Samuel, 1959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Engineering-oriented one definition: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A computer program is said to learn from experience E with respect to some task T and some performance measure P, if its performance on T, as measured by P, improves with experience E. (</a:t>
            </a:r>
            <a:r>
              <a:rPr i="1" lang="en-US"/>
              <a:t>Tom Mitchell, 1997</a:t>
            </a:r>
            <a:r>
              <a:rPr lang="en-US"/>
              <a:t>)</a:t>
            </a:r>
            <a:endParaRPr/>
          </a:p>
        </p:txBody>
      </p:sp>
      <p:sp>
        <p:nvSpPr>
          <p:cNvPr id="196" name="Google Shape;196;p2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197" name="Google Shape;197;p2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Examples of Machine Learning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Spam Filter in the email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Weather prediction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House price prediction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Predicting whether a student will pass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Traffic prediction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Are these ML examples?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Google Maps shortest route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Downloading Wikipedia on the computer and answering queries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Any system automation based on rules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06" name="Google Shape;206;p2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07" name="Google Shape;207;p2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838200" y="369454"/>
            <a:ext cx="10515600" cy="1320801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How to Identify ML?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838200" y="1911926"/>
            <a:ext cx="10515600" cy="4412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Ask three questions: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Font typeface="Calibri"/>
              <a:buAutoNum type="arabicPeriod"/>
            </a:pPr>
            <a:r>
              <a:rPr lang="en-US"/>
              <a:t>Does the system learn from data?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Font typeface="Calibri"/>
              <a:buAutoNum type="arabicPeriod"/>
            </a:pPr>
            <a:r>
              <a:rPr lang="en-US"/>
              <a:t>Does it improve or adapt based on previously observed data?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Font typeface="Calibri"/>
              <a:buAutoNum type="arabicPeriod"/>
            </a:pPr>
            <a:r>
              <a:rPr lang="en-US"/>
              <a:t>Can it make predictions/decisions for new data based on what it learned?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the answer is no, it is probably automation, mathematical modeling, optimization, or conventional control—not machine learning.</a:t>
            </a:r>
            <a:endParaRPr/>
          </a:p>
        </p:txBody>
      </p:sp>
      <p:sp>
        <p:nvSpPr>
          <p:cNvPr id="214" name="Google Shape;214;p2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15" name="Google Shape;215;p2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16" name="Google Shape;216;p2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000"/>
              <a:buFont typeface="Calibri"/>
              <a:buNone/>
            </a:pPr>
            <a:r>
              <a:rPr lang="en-US" sz="4000"/>
              <a:t>Why Use Machine Learning?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Machine Learning is great for: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Problems for which existing solutions require a lot of hand-tuning or long lists of rules: one Machine Learning algorithm can often simplify code and perform better.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Complex problems for which there is no good solution at all using a traditional approach: the best Machine Learning techniques can find a solution.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Fluctuating environments: a Machine Learning system can adapt to new data.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Getting insights about complex problems and large amounts of data.</a:t>
            </a:r>
            <a:endParaRPr/>
          </a:p>
        </p:txBody>
      </p:sp>
      <p:sp>
        <p:nvSpPr>
          <p:cNvPr id="223" name="Google Shape;223;p2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24" name="Google Shape;224;p2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25" name="Google Shape;225;p2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Spam Detection Problem (1/2)</a:t>
            </a:r>
            <a:endParaRPr/>
          </a:p>
        </p:txBody>
      </p:sp>
      <p:sp>
        <p:nvSpPr>
          <p:cNvPr id="231" name="Google Shape;231;p2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32" name="Google Shape;232;p2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33" name="Google Shape;233;p2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417" y="1962875"/>
            <a:ext cx="4530080" cy="26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5505" y="1830965"/>
            <a:ext cx="4528800" cy="2775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1826567" y="4819460"/>
            <a:ext cx="39992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Traditional Approach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Study the problem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Write rules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Check and analyze errors</a:t>
            </a:r>
            <a:endParaRPr sz="18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7483840" y="4819459"/>
            <a:ext cx="39992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Machine Learning Approach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Study the problem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Collect relevant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Train and evaluate the model</a:t>
            </a:r>
            <a:endParaRPr sz="18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Spam Detection Problem (2/2)</a:t>
            </a:r>
            <a:endParaRPr/>
          </a:p>
        </p:txBody>
      </p:sp>
      <p:sp>
        <p:nvSpPr>
          <p:cNvPr id="243" name="Google Shape;243;p2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44" name="Google Shape;244;p2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45" name="Google Shape;245;p2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553316" y="4819459"/>
            <a:ext cx="50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ML may automatically adapt to change</a:t>
            </a:r>
            <a:endParaRPr sz="18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6443084" y="4819459"/>
            <a:ext cx="4910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Machine Learning can help humans learn</a:t>
            </a:r>
            <a:endParaRPr sz="18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316" y="2136980"/>
            <a:ext cx="5040000" cy="2317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084" y="1784536"/>
            <a:ext cx="5040000" cy="303492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838200" y="5554118"/>
            <a:ext cx="10515600" cy="707886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Applying ML techniques to dig into large amounts of data can help discover patterns that were not immediately apparent. This is called </a:t>
            </a:r>
            <a:r>
              <a:rPr b="1" lang="en-US" sz="2000">
                <a:solidFill>
                  <a:srgbClr val="3A67B8"/>
                </a:solidFill>
                <a:latin typeface="Calibri"/>
                <a:ea typeface="Calibri"/>
                <a:cs typeface="Calibri"/>
                <a:sym typeface="Calibri"/>
              </a:rPr>
              <a:t>data mining.</a:t>
            </a:r>
            <a:endParaRPr b="1" sz="2000">
              <a:solidFill>
                <a:srgbClr val="3A6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Types of Machine Learning</a:t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Whether or not they are trained with human supervision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Supervised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Unsupervised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Semi-supervised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Reinforcement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Whether or not they can learn incrementally on the fly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Online Learning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Batch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Whether they work by comparing new data points to known data points, or by detecting patterns in the training data and building a predictive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Instance-based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Model-based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These categories are not mutually exclusive. For example, a system can be supervised + online + model-based.</a:t>
            </a:r>
            <a:endParaRPr/>
          </a:p>
        </p:txBody>
      </p:sp>
      <p:sp>
        <p:nvSpPr>
          <p:cNvPr id="257" name="Google Shape;257;p3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58" name="Google Shape;258;p3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3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Supervised ML</a:t>
            </a:r>
            <a:endParaRPr/>
          </a:p>
        </p:txBody>
      </p:sp>
      <p:sp>
        <p:nvSpPr>
          <p:cNvPr id="265" name="Google Shape;265;p3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In supervised learning, the training data you feed to the algorithm includes the desired solutions, called labels.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Here are some of the most important                                        supervised learning algorithms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k-Nearest Neighbors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Linear Regression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Logistic Regression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Support Vector Machines (SVMs)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Decision Trees and Random Forests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Neural networks</a:t>
            </a:r>
            <a:endParaRPr/>
          </a:p>
        </p:txBody>
      </p:sp>
      <p:sp>
        <p:nvSpPr>
          <p:cNvPr id="266" name="Google Shape;266;p3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67" name="Google Shape;267;p3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68" name="Google Shape;268;p3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9" name="Google Shape;2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2735" y="2563649"/>
            <a:ext cx="4551066" cy="368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Unsupervised ML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838200" y="1956815"/>
            <a:ext cx="659758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 unsupervised learning, the training data is unlabeled. The system tries to learn without a teacher.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Here are some of the most important unsupervised learning algorithms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K-Means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DBSCAN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Hierarchical Cluster Analysis (HCA)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One-class SVM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Isolation Forest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Principal Component Analysis (PCA)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Kernel PCA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Locally-Linear Embedding (LLE)</a:t>
            </a:r>
            <a:endParaRPr/>
          </a:p>
        </p:txBody>
      </p:sp>
      <p:sp>
        <p:nvSpPr>
          <p:cNvPr id="276" name="Google Shape;276;p3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77" name="Google Shape;277;p3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78" name="Google Shape;278;p3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122" y="1847409"/>
            <a:ext cx="4040694" cy="202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122" y="4339838"/>
            <a:ext cx="3855531" cy="1969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Semi-Supervised ML</a:t>
            </a:r>
            <a:endParaRPr/>
          </a:p>
        </p:txBody>
      </p:sp>
      <p:sp>
        <p:nvSpPr>
          <p:cNvPr id="286" name="Google Shape;286;p3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Some algorithms can deal with partially labeled training data, usually a lot of unlabeled data and a little bit of labeled data. This is called semisupervised learning.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7" name="Google Shape;287;p3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88" name="Google Shape;288;p3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89" name="Google Shape;289;p3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0" name="Google Shape;29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5097" y="3339720"/>
            <a:ext cx="616267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Reinforcement Learning</a:t>
            </a:r>
            <a:endParaRPr/>
          </a:p>
        </p:txBody>
      </p:sp>
      <p:sp>
        <p:nvSpPr>
          <p:cNvPr id="296" name="Google Shape;296;p34"/>
          <p:cNvSpPr txBox="1"/>
          <p:nvPr>
            <p:ph idx="1" type="body"/>
          </p:nvPr>
        </p:nvSpPr>
        <p:spPr>
          <a:xfrm>
            <a:off x="838201" y="1956815"/>
            <a:ext cx="5708152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Reinforcement Learning is a very different beast.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learning system, called an </a:t>
            </a:r>
            <a:r>
              <a:rPr b="1" lang="en-US"/>
              <a:t>agent</a:t>
            </a:r>
            <a:r>
              <a:rPr lang="en-US"/>
              <a:t> in this context, can observe the environment, select and perform </a:t>
            </a:r>
            <a:r>
              <a:rPr b="1" lang="en-US"/>
              <a:t>actions</a:t>
            </a:r>
            <a:r>
              <a:rPr lang="en-US"/>
              <a:t>, and get </a:t>
            </a:r>
            <a:r>
              <a:rPr b="1" lang="en-US"/>
              <a:t>rewards </a:t>
            </a:r>
            <a:r>
              <a:rPr lang="en-US"/>
              <a:t>in return (or </a:t>
            </a:r>
            <a:r>
              <a:rPr b="1" lang="en-US"/>
              <a:t>penalties</a:t>
            </a:r>
            <a:r>
              <a:rPr lang="en-US"/>
              <a:t> in the form of negative rewards).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It must then learn by itself what the best strategy, called a </a:t>
            </a:r>
            <a:r>
              <a:rPr b="1" lang="en-US"/>
              <a:t>policy</a:t>
            </a:r>
            <a:r>
              <a:rPr lang="en-US"/>
              <a:t>, is to get the most reward over time.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 policy defines what action the agent should choose when it is in a given situation.</a:t>
            </a:r>
            <a:endParaRPr/>
          </a:p>
        </p:txBody>
      </p:sp>
      <p:sp>
        <p:nvSpPr>
          <p:cNvPr id="297" name="Google Shape;297;p3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298" name="Google Shape;298;p3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299" name="Google Shape;299;p3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0" name="Google Shape;3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6352" y="2090057"/>
            <a:ext cx="5237067" cy="3803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Batch Learning</a:t>
            </a:r>
            <a:endParaRPr/>
          </a:p>
        </p:txBody>
      </p:sp>
      <p:sp>
        <p:nvSpPr>
          <p:cNvPr id="306" name="Google Shape;306;p35"/>
          <p:cNvSpPr txBox="1"/>
          <p:nvPr>
            <p:ph idx="1" type="body"/>
          </p:nvPr>
        </p:nvSpPr>
        <p:spPr>
          <a:xfrm>
            <a:off x="838201" y="1956815"/>
            <a:ext cx="5612842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 batch learning, the system is incapable of learning incrementally: it must be trained using all the available data.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This will generally take a lot of time and computing resources, so it is typically done offline.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First, the system is trained, and then it is launched into production and runs without learning anymore; it just applies what it has learned.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This is called offline learning.</a:t>
            </a:r>
            <a:endParaRPr/>
          </a:p>
        </p:txBody>
      </p:sp>
      <p:sp>
        <p:nvSpPr>
          <p:cNvPr id="307" name="Google Shape;307;p3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08" name="Google Shape;308;p3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09" name="Google Shape;309;p3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0" name="Google Shape;310;p35"/>
          <p:cNvPicPr preferRelativeResize="0"/>
          <p:nvPr/>
        </p:nvPicPr>
        <p:blipFill rotWithShape="1">
          <a:blip r:embed="rId3">
            <a:alphaModFix/>
          </a:blip>
          <a:srcRect b="0" l="5734" r="12679" t="2990"/>
          <a:stretch/>
        </p:blipFill>
        <p:spPr>
          <a:xfrm>
            <a:off x="6451043" y="2390303"/>
            <a:ext cx="5496448" cy="280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Online Learning</a:t>
            </a:r>
            <a:endParaRPr/>
          </a:p>
        </p:txBody>
      </p:sp>
      <p:sp>
        <p:nvSpPr>
          <p:cNvPr id="316" name="Google Shape;316;p36"/>
          <p:cNvSpPr txBox="1"/>
          <p:nvPr>
            <p:ph idx="1" type="body"/>
          </p:nvPr>
        </p:nvSpPr>
        <p:spPr>
          <a:xfrm>
            <a:off x="838200" y="1956815"/>
            <a:ext cx="10515600" cy="16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 online learning, you train the system incrementally by feeding it data instances sequentially, either individually or in small groups called mini-batches.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Each learning step is fast and cheap, so the system can learn about new data on the fly as it arrives</a:t>
            </a:r>
            <a:endParaRPr/>
          </a:p>
        </p:txBody>
      </p:sp>
      <p:sp>
        <p:nvSpPr>
          <p:cNvPr id="317" name="Google Shape;317;p3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18" name="Google Shape;318;p3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19" name="Google Shape;319;p3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0" name="Google Shape;32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3419" y="3555860"/>
            <a:ext cx="5553075" cy="277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Advantage of Online Learning </a:t>
            </a:r>
            <a:r>
              <a:rPr lang="en-US" sz="3200"/>
              <a:t>(out-of-core learning)</a:t>
            </a:r>
            <a:endParaRPr/>
          </a:p>
        </p:txBody>
      </p:sp>
      <p:sp>
        <p:nvSpPr>
          <p:cNvPr id="326" name="Google Shape;326;p37"/>
          <p:cNvSpPr txBox="1"/>
          <p:nvPr>
            <p:ph idx="1" type="body"/>
          </p:nvPr>
        </p:nvSpPr>
        <p:spPr>
          <a:xfrm>
            <a:off x="838200" y="1956815"/>
            <a:ext cx="10515600" cy="16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Online learning algorithms can also be used to train systems on huge datasets that cannot fit in one machine’s main memory (this is called out-of-core learning).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algorithm loads part of the data, runs a training step on that data, and repeats the process until it has run on all of the data</a:t>
            </a:r>
            <a:endParaRPr/>
          </a:p>
        </p:txBody>
      </p:sp>
      <p:sp>
        <p:nvSpPr>
          <p:cNvPr id="327" name="Google Shape;327;p3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28" name="Google Shape;328;p3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29" name="Google Shape;329;p3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0" name="Google Shape;3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8005" y="3571195"/>
            <a:ext cx="4940802" cy="27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Instance-Based Learning</a:t>
            </a:r>
            <a:endParaRPr/>
          </a:p>
        </p:txBody>
      </p:sp>
      <p:sp>
        <p:nvSpPr>
          <p:cNvPr id="336" name="Google Shape;336;p3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Remember the examples and compare new data with them.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model does not necessarily learn a complex mathematical model.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Instead, it stores training examples.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When a new example arrives: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Find similar examples → Use their information → Make prediction</a:t>
            </a:r>
            <a:endParaRPr/>
          </a:p>
        </p:txBody>
      </p:sp>
      <p:sp>
        <p:nvSpPr>
          <p:cNvPr id="337" name="Google Shape;337;p3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Suppose we have historical motor measurements: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 new motor produces: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Current = 14.5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Vibration = High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Temperature = 72°C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Prediction will be </a:t>
            </a:r>
            <a:r>
              <a:rPr b="1" lang="en-US"/>
              <a:t>Bearing Fault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8" name="Google Shape;338;p3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39" name="Google Shape;339;p3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40" name="Google Shape;340;p3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41" name="Google Shape;341;p38"/>
          <p:cNvGraphicFramePr/>
          <p:nvPr/>
        </p:nvGraphicFramePr>
        <p:xfrm>
          <a:off x="6640944" y="267487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{3FE9B6D9-F949-4B1D-A75D-97387C1243C4}</a:tableStyleId>
              </a:tblPr>
              <a:tblGrid>
                <a:gridCol w="822950"/>
                <a:gridCol w="969000"/>
                <a:gridCol w="1283325"/>
                <a:gridCol w="1264275"/>
              </a:tblGrid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Current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Vibration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Temperature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Fault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10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Low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40°C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Normal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15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75°C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Bearing Fault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14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High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70°C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Bearing Fault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Model-Based Learning</a:t>
            </a:r>
            <a:endParaRPr/>
          </a:p>
        </p:txBody>
      </p:sp>
      <p:sp>
        <p:nvSpPr>
          <p:cNvPr id="347" name="Google Shape;347;p39"/>
          <p:cNvSpPr txBox="1"/>
          <p:nvPr>
            <p:ph idx="1" type="body"/>
          </p:nvPr>
        </p:nvSpPr>
        <p:spPr>
          <a:xfrm>
            <a:off x="838200" y="1956815"/>
            <a:ext cx="10515600" cy="16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Another way to generalize from a set of examples is to build a mathematical model of these examples, then use that model to make predictions.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This is called model-based learning.</a:t>
            </a:r>
            <a:endParaRPr/>
          </a:p>
        </p:txBody>
      </p:sp>
      <p:sp>
        <p:nvSpPr>
          <p:cNvPr id="348" name="Google Shape;348;p3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49" name="Google Shape;349;p3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50" name="Google Shape;350;p3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1" name="Google Shape;351;p39"/>
          <p:cNvPicPr preferRelativeResize="0"/>
          <p:nvPr/>
        </p:nvPicPr>
        <p:blipFill rotWithShape="1">
          <a:blip r:embed="rId3">
            <a:alphaModFix/>
          </a:blip>
          <a:srcRect b="37013" l="6798" r="13204" t="2661"/>
          <a:stretch/>
        </p:blipFill>
        <p:spPr>
          <a:xfrm>
            <a:off x="3267253" y="3562063"/>
            <a:ext cx="5515007" cy="2770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/>
          <p:nvPr>
            <p:ph type="ctrTitle"/>
          </p:nvPr>
        </p:nvSpPr>
        <p:spPr>
          <a:xfrm>
            <a:off x="914400" y="171672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Applied Machine Learning</a:t>
            </a:r>
            <a:endParaRPr/>
          </a:p>
        </p:txBody>
      </p:sp>
      <p:sp>
        <p:nvSpPr>
          <p:cNvPr id="357" name="Google Shape;357;p40"/>
          <p:cNvSpPr txBox="1"/>
          <p:nvPr>
            <p:ph idx="1" type="subTitle"/>
          </p:nvPr>
        </p:nvSpPr>
        <p:spPr>
          <a:xfrm>
            <a:off x="1524000" y="4498848"/>
            <a:ext cx="91440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Lecture 2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363" name="Google Shape;363;p4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Supervised Learning: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Formulation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Setup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Train-test split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Generalization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4" name="Google Shape;364;p4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65" name="Google Shape;365;p4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66" name="Google Shape;366;p4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Supervised ML</a:t>
            </a:r>
            <a:endParaRPr/>
          </a:p>
        </p:txBody>
      </p:sp>
      <p:sp>
        <p:nvSpPr>
          <p:cNvPr id="372" name="Google Shape;372;p4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In supervised learning, the training data you feed to the algorithm includes the desired solutions, called labels.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Here are some of the most important                                        supervised learning algorithms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k-Nearest Neighbors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Linear Regression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Logistic Regression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Support Vector Machines (SVMs)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Decision Trees and Random Forests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Neural networks</a:t>
            </a:r>
            <a:endParaRPr/>
          </a:p>
        </p:txBody>
      </p:sp>
      <p:sp>
        <p:nvSpPr>
          <p:cNvPr id="373" name="Google Shape;373;p4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74" name="Google Shape;374;p4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75" name="Google Shape;375;p4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6" name="Google Shape;37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2735" y="2563649"/>
            <a:ext cx="4551066" cy="368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3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Examples of Supervised Learning</a:t>
            </a:r>
            <a:endParaRPr/>
          </a:p>
        </p:txBody>
      </p:sp>
      <p:sp>
        <p:nvSpPr>
          <p:cNvPr id="382" name="Google Shape;382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Classification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Predict a category/class.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Fault / No Fault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Theft / Normal electricity consumption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Healthy / Faulty motor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Spam / Not Spam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Classification → discrete output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3" name="Google Shape;383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Regression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Predict a continuous numerical value.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Electricity demand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Solar power generation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Battery remaining useful life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Motor temperature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Wind speed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Regression → continuous output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4" name="Google Shape;384;p4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85" name="Google Shape;385;p4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Mathematical Formulation of Supervised ML</a:t>
            </a:r>
            <a:endParaRPr/>
          </a:p>
        </p:txBody>
      </p:sp>
      <p:sp>
        <p:nvSpPr>
          <p:cNvPr id="392" name="Google Shape;392;p4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0" t="-35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93" name="Google Shape;393;p4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394" name="Google Shape;394;p4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395" name="Google Shape;395;p4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Mathematical Formulation of Supervised ML</a:t>
            </a:r>
            <a:endParaRPr/>
          </a:p>
        </p:txBody>
      </p:sp>
      <p:sp>
        <p:nvSpPr>
          <p:cNvPr id="401" name="Google Shape;401;p4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641" l="-928" r="0" t="-21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02" name="Google Shape;402;p4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03" name="Google Shape;403;p4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04" name="Google Shape;404;p4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Mathematical Formulation of Supervised ML</a:t>
            </a:r>
            <a:endParaRPr/>
          </a:p>
        </p:txBody>
      </p:sp>
      <p:sp>
        <p:nvSpPr>
          <p:cNvPr id="410" name="Google Shape;410;p4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Dataset as a Matrix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For N observations and d features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In simple terms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Rows → observations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Columns → features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y → target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11" name="Google Shape;411;p4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12" name="Google Shape;412;p4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13" name="Google Shape;413;p4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4" name="Google Shape;41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7310" y="3075421"/>
            <a:ext cx="30480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6355" y="3018271"/>
            <a:ext cx="11430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The Supervised Learning Pipeline</a:t>
            </a:r>
            <a:endParaRPr/>
          </a:p>
        </p:txBody>
      </p:sp>
      <p:grpSp>
        <p:nvGrpSpPr>
          <p:cNvPr id="421" name="Google Shape;421;p47"/>
          <p:cNvGrpSpPr/>
          <p:nvPr/>
        </p:nvGrpSpPr>
        <p:grpSpPr>
          <a:xfrm>
            <a:off x="842821" y="2516693"/>
            <a:ext cx="10506357" cy="3232726"/>
            <a:chOff x="4621" y="559305"/>
            <a:chExt cx="10506357" cy="3232726"/>
          </a:xfrm>
        </p:grpSpPr>
        <p:sp>
          <p:nvSpPr>
            <p:cNvPr id="422" name="Google Shape;422;p47"/>
            <p:cNvSpPr/>
            <p:nvPr/>
          </p:nvSpPr>
          <p:spPr>
            <a:xfrm>
              <a:off x="4621" y="559305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7"/>
            <p:cNvSpPr txBox="1"/>
            <p:nvPr/>
          </p:nvSpPr>
          <p:spPr>
            <a:xfrm>
              <a:off x="40127" y="594811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Real-world problem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7"/>
            <p:cNvSpPr/>
            <p:nvPr/>
          </p:nvSpPr>
          <p:spPr>
            <a:xfrm>
              <a:off x="2202874" y="914905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7"/>
            <p:cNvSpPr txBox="1"/>
            <p:nvPr/>
          </p:nvSpPr>
          <p:spPr>
            <a:xfrm>
              <a:off x="2202874" y="1015119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47"/>
            <p:cNvSpPr/>
            <p:nvPr/>
          </p:nvSpPr>
          <p:spPr>
            <a:xfrm>
              <a:off x="2833255" y="559305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7"/>
            <p:cNvSpPr txBox="1"/>
            <p:nvPr/>
          </p:nvSpPr>
          <p:spPr>
            <a:xfrm>
              <a:off x="2868761" y="594811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Collection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47"/>
            <p:cNvSpPr/>
            <p:nvPr/>
          </p:nvSpPr>
          <p:spPr>
            <a:xfrm>
              <a:off x="5031509" y="914905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7"/>
            <p:cNvSpPr txBox="1"/>
            <p:nvPr/>
          </p:nvSpPr>
          <p:spPr>
            <a:xfrm>
              <a:off x="5031509" y="1015119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47"/>
            <p:cNvSpPr/>
            <p:nvPr/>
          </p:nvSpPr>
          <p:spPr>
            <a:xfrm>
              <a:off x="5661890" y="559305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7"/>
            <p:cNvSpPr txBox="1"/>
            <p:nvPr/>
          </p:nvSpPr>
          <p:spPr>
            <a:xfrm>
              <a:off x="5697396" y="594811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Features (X)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Target y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47"/>
            <p:cNvSpPr/>
            <p:nvPr/>
          </p:nvSpPr>
          <p:spPr>
            <a:xfrm>
              <a:off x="7860144" y="914905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7"/>
            <p:cNvSpPr txBox="1"/>
            <p:nvPr/>
          </p:nvSpPr>
          <p:spPr>
            <a:xfrm>
              <a:off x="7860144" y="1015119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47"/>
            <p:cNvSpPr/>
            <p:nvPr/>
          </p:nvSpPr>
          <p:spPr>
            <a:xfrm>
              <a:off x="8490525" y="559305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7"/>
            <p:cNvSpPr txBox="1"/>
            <p:nvPr/>
          </p:nvSpPr>
          <p:spPr>
            <a:xfrm>
              <a:off x="8526031" y="594811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Train-Test Split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47"/>
            <p:cNvSpPr/>
            <p:nvPr/>
          </p:nvSpPr>
          <p:spPr>
            <a:xfrm rot="5400000">
              <a:off x="9286584" y="1913009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7"/>
            <p:cNvSpPr txBox="1"/>
            <p:nvPr/>
          </p:nvSpPr>
          <p:spPr>
            <a:xfrm>
              <a:off x="9350431" y="1949377"/>
              <a:ext cx="300644" cy="29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47"/>
            <p:cNvSpPr/>
            <p:nvPr/>
          </p:nvSpPr>
          <p:spPr>
            <a:xfrm>
              <a:off x="8490525" y="2579759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7"/>
            <p:cNvSpPr txBox="1"/>
            <p:nvPr/>
          </p:nvSpPr>
          <p:spPr>
            <a:xfrm>
              <a:off x="8526031" y="2615265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Training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47"/>
            <p:cNvSpPr/>
            <p:nvPr/>
          </p:nvSpPr>
          <p:spPr>
            <a:xfrm rot="10800000">
              <a:off x="7884389" y="2935358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7"/>
            <p:cNvSpPr txBox="1"/>
            <p:nvPr/>
          </p:nvSpPr>
          <p:spPr>
            <a:xfrm>
              <a:off x="8012890" y="3035572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47"/>
            <p:cNvSpPr/>
            <p:nvPr/>
          </p:nvSpPr>
          <p:spPr>
            <a:xfrm>
              <a:off x="5661890" y="2579759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7"/>
            <p:cNvSpPr txBox="1"/>
            <p:nvPr/>
          </p:nvSpPr>
          <p:spPr>
            <a:xfrm>
              <a:off x="5697396" y="2615265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Evaluation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47"/>
            <p:cNvSpPr/>
            <p:nvPr/>
          </p:nvSpPr>
          <p:spPr>
            <a:xfrm rot="10800000">
              <a:off x="5055754" y="2935358"/>
              <a:ext cx="428336" cy="501072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EB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7"/>
            <p:cNvSpPr txBox="1"/>
            <p:nvPr/>
          </p:nvSpPr>
          <p:spPr>
            <a:xfrm>
              <a:off x="5184255" y="3035572"/>
              <a:ext cx="299835" cy="300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47"/>
            <p:cNvSpPr/>
            <p:nvPr/>
          </p:nvSpPr>
          <p:spPr>
            <a:xfrm>
              <a:off x="2833255" y="2579759"/>
              <a:ext cx="2020453" cy="1212272"/>
            </a:xfrm>
            <a:prstGeom prst="roundRect">
              <a:avLst>
                <a:gd fmla="val 10000" name="adj"/>
              </a:avLst>
            </a:prstGeom>
            <a:solidFill>
              <a:srgbClr val="4270C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7"/>
            <p:cNvSpPr txBox="1"/>
            <p:nvPr/>
          </p:nvSpPr>
          <p:spPr>
            <a:xfrm>
              <a:off x="2868761" y="2615265"/>
              <a:ext cx="1949441" cy="114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Deployment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4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49" name="Google Shape;449;p4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50" name="Google Shape;450;p4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Training the Model</a:t>
            </a:r>
            <a:endParaRPr/>
          </a:p>
        </p:txBody>
      </p:sp>
      <p:sp>
        <p:nvSpPr>
          <p:cNvPr id="456" name="Google Shape;456;p4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22" r="0" t="-25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57" name="Google Shape;457;p4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58" name="Google Shape;458;p4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59" name="Google Shape;459;p4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Loss Function</a:t>
            </a:r>
            <a:endParaRPr/>
          </a:p>
        </p:txBody>
      </p:sp>
      <p:sp>
        <p:nvSpPr>
          <p:cNvPr id="465" name="Google Shape;465;p4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3" r="0" t="-22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66" name="Google Shape;466;p4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67" name="Google Shape;467;p4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68" name="Google Shape;468;p4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Example: Learning a Straight Line</a:t>
            </a:r>
            <a:endParaRPr/>
          </a:p>
        </p:txBody>
      </p:sp>
      <p:sp>
        <p:nvSpPr>
          <p:cNvPr id="474" name="Google Shape;474;p5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8" r="0" t="-28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75" name="Google Shape;475;p5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76" name="Google Shape;476;p5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77" name="Google Shape;477;p5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Train-Test Split</a:t>
            </a:r>
            <a:endParaRPr/>
          </a:p>
        </p:txBody>
      </p:sp>
      <p:sp>
        <p:nvSpPr>
          <p:cNvPr id="483" name="Google Shape;483;p51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Suppose we have 1,000 observations.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We train a model using all 1,000 observations.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Then we test it on the same 1,000 observations.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model gets: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98% accuracy!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Is it a good model?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Not necessarily.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Because the model has already seen the data.</a:t>
            </a:r>
            <a:endParaRPr/>
          </a:p>
        </p:txBody>
      </p:sp>
      <p:sp>
        <p:nvSpPr>
          <p:cNvPr id="484" name="Google Shape;484;p5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85" name="Google Shape;485;p5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86" name="Google Shape;486;p5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Training Data vs Test Data</a:t>
            </a:r>
            <a:endParaRPr/>
          </a:p>
        </p:txBody>
      </p:sp>
      <p:sp>
        <p:nvSpPr>
          <p:cNvPr id="492" name="Google Shape;492;p5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We divide the dataset into separate parts.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Training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Learn model parameters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Fit the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Minimize training loss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Test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Evaluate the final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Estimate performance on unseen data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Fundamental principle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Never use test data to train the model.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93" name="Google Shape;493;p5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494" name="Google Shape;494;p5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495" name="Google Shape;495;p5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Typical Train-Test Split</a:t>
            </a:r>
            <a:endParaRPr/>
          </a:p>
        </p:txBody>
      </p:sp>
      <p:sp>
        <p:nvSpPr>
          <p:cNvPr id="501" name="Google Shape;501;p53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 common choice: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80% Training  AND 20% Testing 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D</a:t>
            </a:r>
            <a:r>
              <a:rPr baseline="-25000" lang="en-US"/>
              <a:t>train</a:t>
            </a:r>
            <a:r>
              <a:rPr lang="en-US"/>
              <a:t>​ = 80%   AND   D</a:t>
            </a:r>
            <a:r>
              <a:rPr baseline="-25000" lang="en-US"/>
              <a:t>test</a:t>
            </a:r>
            <a:r>
              <a:rPr lang="en-US"/>
              <a:t>​ = 20%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10,000 samples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8,000 training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2,000 testing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Other common choices: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70/30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75/25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80/20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90/10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There is </a:t>
            </a:r>
            <a:r>
              <a:rPr b="1" lang="en-US"/>
              <a:t>no universal best ratio</a:t>
            </a:r>
            <a:r>
              <a:rPr lang="en-US"/>
              <a:t>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02" name="Google Shape;502;p5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03" name="Google Shape;503;p5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04" name="Google Shape;504;p5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 / Validation / Test</a:t>
            </a:r>
            <a:endParaRPr/>
          </a:p>
        </p:txBody>
      </p:sp>
      <p:sp>
        <p:nvSpPr>
          <p:cNvPr id="510" name="Google Shape;510;p5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For more reliable ML development, we often use three datasets: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Training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to learn parameters.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Validation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Select hyperparameters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Compare models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Tune architecture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Test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Used only for final evaluation.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For example, we may use 70% data for training, 15% for validation, and 15% for testing</a:t>
            </a:r>
            <a:endParaRPr/>
          </a:p>
        </p:txBody>
      </p:sp>
      <p:sp>
        <p:nvSpPr>
          <p:cNvPr id="511" name="Google Shape;511;p5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12" name="Google Shape;512;p5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13" name="Google Shape;513;p5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5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Parameters vs Hyperparameters</a:t>
            </a:r>
            <a:endParaRPr/>
          </a:p>
        </p:txBody>
      </p:sp>
      <p:sp>
        <p:nvSpPr>
          <p:cNvPr id="519" name="Google Shape;519;p5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Learned automatically from training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Examples: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Neural network weights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Linear regression coefficients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Decision tree split parameters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rPr lang="en-US"/>
              <a:t>Validation data helps us choose hyperparameters.</a:t>
            </a:r>
            <a:endParaRPr/>
          </a:p>
        </p:txBody>
      </p:sp>
      <p:sp>
        <p:nvSpPr>
          <p:cNvPr id="520" name="Google Shape;520;p5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Hyperparameters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Set before/during model development.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Examples: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Learning rate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Number of hidden layers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Number of neighbors k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Tree depth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Batch size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21" name="Google Shape;521;p5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22" name="Google Shape;522;p5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23" name="Google Shape;523;p5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A Common Mistake</a:t>
            </a:r>
            <a:endParaRPr/>
          </a:p>
        </p:txBody>
      </p:sp>
      <p:sp>
        <p:nvSpPr>
          <p:cNvPr id="529" name="Google Shape;529;p5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Wrong approach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data: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 + Test →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Then: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Same Test Data → Model selection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❌ This causes data leakage.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Correct approach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→ Learn parameters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Validation → Tune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 → Final evaluation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30" name="Google Shape;530;p5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31" name="Google Shape;531;p5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32" name="Google Shape;532;p5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Generalization</a:t>
            </a:r>
            <a:endParaRPr/>
          </a:p>
        </p:txBody>
      </p:sp>
      <p:sp>
        <p:nvSpPr>
          <p:cNvPr id="538" name="Google Shape;538;p5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The most important goal of machine learning is not memorization.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It is performing well on new, unseen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 model should learn the underlying pattern rather than simply memorize the training examples.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 on January–October electricity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 on November–December electricity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If the model performs well on November–December, then it has good generalization.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39" name="Google Shape;539;p5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40" name="Google Shape;540;p5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41" name="Google Shape;541;p5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Training vs Generalization</a:t>
            </a:r>
            <a:endParaRPr/>
          </a:p>
        </p:txBody>
      </p:sp>
      <p:sp>
        <p:nvSpPr>
          <p:cNvPr id="547" name="Google Shape;547;p5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Imagine students preparing for an exam.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Student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Memorizes the exact questions from practice sheets and gets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95% on practice questions and 55% on new questions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Student 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Understands the underlying concepts and gets: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90% on practice and 88% on new questions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Which student learned better?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b="1" lang="en-US"/>
              <a:t>Student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This is analogous to generalization in ML.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48" name="Google Shape;548;p5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49" name="Google Shape;549;p5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50" name="Google Shape;550;p5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9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Overfitting</a:t>
            </a:r>
            <a:endParaRPr/>
          </a:p>
        </p:txBody>
      </p:sp>
      <p:sp>
        <p:nvSpPr>
          <p:cNvPr id="556" name="Google Shape;556;p59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The model learns the training data too closely.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It may learn: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Noise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Outliers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Random patterns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Typical behavior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performance → Excellent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 performance → Poor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the training accuracy is 99% and testing performance is 72%, the model is likely overfitted.</a:t>
            </a:r>
            <a:endParaRPr/>
          </a:p>
        </p:txBody>
      </p:sp>
      <p:sp>
        <p:nvSpPr>
          <p:cNvPr id="557" name="Google Shape;557;p59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58" name="Google Shape;558;p59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59" name="Google Shape;559;p59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0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Underfitting</a:t>
            </a:r>
            <a:endParaRPr/>
          </a:p>
        </p:txBody>
      </p:sp>
      <p:sp>
        <p:nvSpPr>
          <p:cNvPr id="565" name="Google Shape;565;p60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The model is too simple to capture the underlying relationship.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Typical behavior: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performance → Poor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Testing performance → Poor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the training accuracy is 65% and the testing accuracy is 62%, the model is likely underfitted.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6" name="Google Shape;566;p60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67" name="Google Shape;567;p60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68" name="Google Shape;568;p60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1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Overfitting vs Underfitting</a:t>
            </a:r>
            <a:endParaRPr/>
          </a:p>
        </p:txBody>
      </p:sp>
      <p:graphicFrame>
        <p:nvGraphicFramePr>
          <p:cNvPr id="574" name="Google Shape;574;p61"/>
          <p:cNvGraphicFramePr/>
          <p:nvPr/>
        </p:nvGraphicFramePr>
        <p:xfrm>
          <a:off x="397254" y="2897887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{3FE9B6D9-F949-4B1D-A75D-97387C1243C4}</a:tableStyleId>
              </a:tblPr>
              <a:tblGrid>
                <a:gridCol w="1314975"/>
                <a:gridCol w="1314975"/>
                <a:gridCol w="1314975"/>
                <a:gridCol w="1533350"/>
              </a:tblGrid>
              <a:tr h="52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Training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Testing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Interpretation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52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Too simple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Poor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Poor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Underfitting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52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Appropriate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Good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Good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Good generalization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52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Too complex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Excellent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Poor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Overfitting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  <p:sp>
        <p:nvSpPr>
          <p:cNvPr id="575" name="Google Shape;575;p61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76" name="Google Shape;576;p61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77" name="Google Shape;577;p61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chniques for handling underfitting and overfitting in Machine Learning |  Towards Data Science" id="578" name="Google Shape;57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6473" y="1893454"/>
            <a:ext cx="5502654" cy="435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Generalization Gap</a:t>
            </a:r>
            <a:endParaRPr/>
          </a:p>
        </p:txBody>
      </p:sp>
      <p:sp>
        <p:nvSpPr>
          <p:cNvPr id="584" name="Google Shape;584;p62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rPr lang="en-US"/>
              <a:t>Generalization Gap = |Training Error − Test Error|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A large difference between training and test performance can indicate overfitting.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Training error = 2%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Test error = 20%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Char char="•"/>
            </a:pPr>
            <a:r>
              <a:rPr lang="en-US"/>
              <a:t>Generalization gap = |2 – 20| = 18% </a:t>
            </a:r>
            <a:endParaRPr/>
          </a:p>
          <a:p>
            <a:pPr indent="0" lvl="1" marL="4572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ts val="2400"/>
              <a:buNone/>
            </a:pPr>
            <a:r>
              <a:rPr b="1" lang="en-US"/>
              <a:t>Large gap → possible overfitting.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5" name="Google Shape;585;p62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86" name="Google Shape;586;p62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87" name="Google Shape;587;p62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3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Case Study: Motor Fault Detection</a:t>
            </a:r>
            <a:endParaRPr/>
          </a:p>
        </p:txBody>
      </p:sp>
      <p:sp>
        <p:nvSpPr>
          <p:cNvPr id="593" name="Google Shape;593;p6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20" l="-1647" r="0" t="-32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94" name="Google Shape;594;p6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647" r="0" t="-32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95" name="Google Shape;595;p63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596" name="Google Shape;596;p63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597" name="Google Shape;597;p63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Case Study: Motor Fault Detection</a:t>
            </a:r>
            <a:endParaRPr/>
          </a:p>
        </p:txBody>
      </p:sp>
      <p:sp>
        <p:nvSpPr>
          <p:cNvPr id="603" name="Google Shape;603;p64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What If We Get This Result?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Model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Training accuracy = 99%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Testing accuracy = 72%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Model 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Training accuracy = 94%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Testing accuracy = 91%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Which model should we choose?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Model 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Because its performance generalizes better to unseen data.</a:t>
            </a:r>
            <a:endParaRPr/>
          </a:p>
        </p:txBody>
      </p:sp>
      <p:sp>
        <p:nvSpPr>
          <p:cNvPr id="604" name="Google Shape;604;p64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05" name="Google Shape;605;p64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06" name="Google Shape;606;p64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5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Important Practical Issues</a:t>
            </a:r>
            <a:endParaRPr/>
          </a:p>
        </p:txBody>
      </p:sp>
      <p:sp>
        <p:nvSpPr>
          <p:cNvPr id="612" name="Google Shape;612;p65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Random Splitting Is Not Always Appropriate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For ordinary independent data: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A random train-test split may be appropriate.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But consider electricity load forecasting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Data: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Jan → Feb → Mar → ... → Dec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If we randomly mix all observations: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❌ Future information may indirectly enter training.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Better approach: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Past → Training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b="1" lang="en-US"/>
              <a:t>Later period → Validation/Test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613" name="Google Shape;613;p65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14" name="Google Shape;614;p65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15" name="Google Shape;615;p65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6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Data Leakage</a:t>
            </a:r>
            <a:endParaRPr/>
          </a:p>
        </p:txBody>
      </p:sp>
      <p:sp>
        <p:nvSpPr>
          <p:cNvPr id="621" name="Google Shape;621;p66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Information from outside the training data improperly influences model training.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Examples: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Using test data during training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Scaling before splitting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Using future information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Selecting features using the entire dataset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Duplicated samples across train and test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Result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The model appears better than it really 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Char char="•"/>
            </a:pPr>
            <a:r>
              <a:rPr lang="en-US"/>
              <a:t>Leakage can produce misleadingly high performance.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622" name="Google Shape;622;p66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23" name="Google Shape;623;p66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24" name="Google Shape;624;p66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7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The Golden Rule</a:t>
            </a:r>
            <a:endParaRPr/>
          </a:p>
        </p:txBody>
      </p:sp>
      <p:sp>
        <p:nvSpPr>
          <p:cNvPr id="630" name="Google Shape;630;p67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Before evaluating a model, ask: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Has the model seen this information before?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YES: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❌ It is not a proper test.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If NO: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✅ It is useful for evaluating generalization.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31" name="Google Shape;631;p67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32" name="Google Shape;632;p67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33" name="Google Shape;633;p67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8"/>
          <p:cNvSpPr txBox="1"/>
          <p:nvPr>
            <p:ph type="title"/>
          </p:nvPr>
        </p:nvSpPr>
        <p:spPr>
          <a:xfrm>
            <a:off x="838200" y="365127"/>
            <a:ext cx="10515600" cy="1325562"/>
          </a:xfrm>
          <a:prstGeom prst="rect">
            <a:avLst/>
          </a:prstGeom>
          <a:noFill/>
          <a:ln cap="flat" cmpd="sng" w="9525">
            <a:solidFill>
              <a:srgbClr val="3A6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4400"/>
              <a:buFont typeface="Calibri"/>
              <a:buNone/>
            </a:pPr>
            <a:r>
              <a:rPr lang="en-US"/>
              <a:t>Main Challenges of Machine Learning</a:t>
            </a:r>
            <a:endParaRPr/>
          </a:p>
        </p:txBody>
      </p:sp>
      <p:sp>
        <p:nvSpPr>
          <p:cNvPr id="639" name="Google Shape;639;p68"/>
          <p:cNvSpPr txBox="1"/>
          <p:nvPr>
            <p:ph idx="1" type="body"/>
          </p:nvPr>
        </p:nvSpPr>
        <p:spPr>
          <a:xfrm>
            <a:off x="838200" y="1956815"/>
            <a:ext cx="1051560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Insufficient Quantity of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Nonrepresentative Training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Poor-Quality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Irrelevant Features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Imbalanced Datasets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Overfitting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Char char="•"/>
            </a:pPr>
            <a:r>
              <a:rPr lang="en-US"/>
              <a:t>Underfitting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67B8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40" name="Google Shape;640;p68"/>
          <p:cNvSpPr txBox="1"/>
          <p:nvPr>
            <p:ph idx="10" type="dt"/>
          </p:nvPr>
        </p:nvSpPr>
        <p:spPr>
          <a:xfrm>
            <a:off x="8382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AI4003-AML</a:t>
            </a:r>
            <a:endParaRPr/>
          </a:p>
        </p:txBody>
      </p:sp>
      <p:sp>
        <p:nvSpPr>
          <p:cNvPr id="641" name="Google Shape;641;p68"/>
          <p:cNvSpPr txBox="1"/>
          <p:nvPr>
            <p:ph idx="11" type="ftr"/>
          </p:nvPr>
        </p:nvSpPr>
        <p:spPr>
          <a:xfrm>
            <a:off x="4038600" y="646608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Instructor: Dr. Muhammad Sajid Iqbal</a:t>
            </a:r>
            <a:endParaRPr/>
          </a:p>
        </p:txBody>
      </p:sp>
      <p:sp>
        <p:nvSpPr>
          <p:cNvPr id="642" name="Google Shape;642;p68"/>
          <p:cNvSpPr txBox="1"/>
          <p:nvPr>
            <p:ph idx="12" type="sldNum"/>
          </p:nvPr>
        </p:nvSpPr>
        <p:spPr>
          <a:xfrm>
            <a:off x="8610600" y="64660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